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?utm_source=chatgpt.com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457200"/>
            <a:ext cx="8915399" cy="4320181"/>
          </a:xfrm>
        </p:spPr>
        <p:txBody>
          <a:bodyPr>
            <a:normAutofit/>
          </a:bodyPr>
          <a:lstStyle/>
          <a:p>
            <a:r>
              <a:rPr lang="en-US" sz="1600" b="1" dirty="0"/>
              <a:t>Machine Learning-Based Detection of Fraudulent Mobile Money Transactions in </a:t>
            </a:r>
            <a:r>
              <a:rPr lang="en-US" sz="1600" b="1" dirty="0" smtClean="0"/>
              <a:t>Zimbabwe</a:t>
            </a:r>
            <a:br>
              <a:rPr lang="en-US" sz="1600" b="1" dirty="0" smtClean="0"/>
            </a:b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dirty="0" smtClean="0"/>
              <a:t>Machine Learning Project Presentation</a:t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Student Name: </a:t>
            </a:r>
            <a:r>
              <a:rPr lang="en-US" sz="1600" dirty="0" smtClean="0"/>
              <a:t>[FIDELIS SHOKO]</a:t>
            </a:r>
            <a:br>
              <a:rPr lang="en-US" sz="1600" dirty="0" smtClean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/>
              <a:t>Programme</a:t>
            </a:r>
            <a:r>
              <a:rPr lang="en-US" sz="1600" dirty="0"/>
              <a:t>: </a:t>
            </a:r>
            <a:r>
              <a:rPr lang="en-US" sz="1600" dirty="0" smtClean="0"/>
              <a:t>[ Computer Science]</a:t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M250445</a:t>
            </a:r>
            <a:r>
              <a:rPr lang="en-US" sz="1600" dirty="0"/>
              <a:t/>
            </a:r>
            <a:br>
              <a:rPr lang="en-US" sz="1600" dirty="0"/>
            </a:b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4112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21" y="327804"/>
            <a:ext cx="11291977" cy="603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Project </a:t>
            </a:r>
            <a:r>
              <a:rPr lang="en-US" sz="2000" b="1" dirty="0"/>
              <a:t>Overview</a:t>
            </a:r>
          </a:p>
          <a:p>
            <a:r>
              <a:rPr lang="en-US" u="sng" dirty="0"/>
              <a:t>Background</a:t>
            </a:r>
          </a:p>
          <a:p>
            <a:r>
              <a:rPr lang="en-US" dirty="0"/>
              <a:t>Mobile money is an important channel for digital financial transactions.</a:t>
            </a:r>
          </a:p>
          <a:p>
            <a:r>
              <a:rPr lang="en-US" dirty="0"/>
              <a:t>Fraudulent transactions can cause financial losses to customers and service providers.</a:t>
            </a:r>
          </a:p>
          <a:p>
            <a:r>
              <a:rPr lang="en-US" dirty="0"/>
              <a:t>Machine learning can identify transaction patterns associated with possible fraud.</a:t>
            </a:r>
          </a:p>
          <a:p>
            <a:r>
              <a:rPr lang="en-US" dirty="0"/>
              <a:t>This project develops a machine learning model to classify transactions according to their fraud risk.</a:t>
            </a:r>
          </a:p>
          <a:p>
            <a:r>
              <a:rPr lang="en-US" u="sng" dirty="0" smtClean="0"/>
              <a:t>Project Output</a:t>
            </a:r>
          </a:p>
          <a:p>
            <a:r>
              <a:rPr lang="en-US" dirty="0" smtClean="0"/>
              <a:t>A trained fraud detection model.</a:t>
            </a:r>
          </a:p>
          <a:p>
            <a:r>
              <a:rPr lang="en-US" dirty="0" smtClean="0"/>
              <a:t>An </a:t>
            </a:r>
            <a:r>
              <a:rPr lang="en-US" dirty="0"/>
              <a:t>evaluation comparing Logistic Regression and Random Forest.</a:t>
            </a:r>
          </a:p>
          <a:p>
            <a:r>
              <a:rPr lang="en-US" dirty="0"/>
              <a:t>A </a:t>
            </a:r>
            <a:r>
              <a:rPr lang="en-US" dirty="0" err="1"/>
              <a:t>Streamlit</a:t>
            </a:r>
            <a:r>
              <a:rPr lang="en-US" dirty="0"/>
              <a:t> web application for testing transactions and displaying risk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5914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441" y="267419"/>
            <a:ext cx="1145587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Problem </a:t>
            </a:r>
            <a:r>
              <a:rPr lang="en-US" b="1" dirty="0"/>
              <a:t>Statement and </a:t>
            </a:r>
            <a:r>
              <a:rPr lang="en-US" b="1" dirty="0" smtClean="0"/>
              <a:t>Objectives</a:t>
            </a:r>
          </a:p>
          <a:p>
            <a:endParaRPr lang="en-US" b="1" dirty="0"/>
          </a:p>
          <a:p>
            <a:r>
              <a:rPr lang="en-US" u="sng" dirty="0"/>
              <a:t>Problem </a:t>
            </a:r>
            <a:r>
              <a:rPr lang="en-US" u="sng" dirty="0" smtClean="0"/>
              <a:t>Statement</a:t>
            </a:r>
          </a:p>
          <a:p>
            <a:endParaRPr lang="en-US" dirty="0"/>
          </a:p>
          <a:p>
            <a:r>
              <a:rPr lang="en-US" dirty="0"/>
              <a:t>Detecting fraudulent mobile money transactions is challenging because fraudulent transactions represent a very small proportion of all transactions. Manual checking and conventional detection rules may fail to identify some suspicious patterns or may flag legitimate transactions unnecessarily.</a:t>
            </a:r>
          </a:p>
          <a:p>
            <a:r>
              <a:rPr lang="en-US" dirty="0"/>
              <a:t>Main Objective</a:t>
            </a:r>
          </a:p>
          <a:p>
            <a:r>
              <a:rPr lang="en-US" dirty="0"/>
              <a:t>To develop a machine learning-based system for detecting potentially fraudulent mobile money transactions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u="sng" dirty="0"/>
              <a:t>Specific </a:t>
            </a:r>
            <a:r>
              <a:rPr lang="en-US" u="sng" dirty="0" smtClean="0"/>
              <a:t>Objectives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Prepare and preprocess transaction data for machine learning.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Logistic Regression and Random Forest classification models.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Evaluate and compare model performance using suitable metrics.</a:t>
            </a:r>
          </a:p>
          <a:p>
            <a:pPr>
              <a:buFont typeface="+mj-lt"/>
              <a:buAutoNum type="arabicPeriod"/>
            </a:pPr>
            <a:r>
              <a:rPr lang="en-US" dirty="0"/>
              <a:t>Develop a web application that accepts transaction details and displays fraud-risk predictions.</a:t>
            </a:r>
          </a:p>
        </p:txBody>
      </p:sp>
    </p:spTree>
    <p:extLst>
      <p:ext uri="{BB962C8B-B14F-4D97-AF65-F5344CB8AC3E}">
        <p14:creationId xmlns:p14="http://schemas.microsoft.com/office/powerpoint/2010/main" val="115186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6815" y="155275"/>
            <a:ext cx="1168016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/>
              <a:t>Dataset </a:t>
            </a:r>
            <a:r>
              <a:rPr lang="en-ZA" b="1" dirty="0"/>
              <a:t>and Class </a:t>
            </a:r>
            <a:r>
              <a:rPr lang="en-ZA" b="1" dirty="0" smtClean="0"/>
              <a:t>Imbalance</a:t>
            </a:r>
          </a:p>
          <a:p>
            <a:endParaRPr lang="en-ZA" b="1" dirty="0"/>
          </a:p>
          <a:p>
            <a:r>
              <a:rPr lang="en-ZA" dirty="0"/>
              <a:t>Dataset: </a:t>
            </a:r>
            <a:r>
              <a:rPr lang="en-ZA" dirty="0" err="1"/>
              <a:t>PaySim</a:t>
            </a:r>
            <a:r>
              <a:rPr lang="en-ZA" dirty="0"/>
              <a:t> Synthetic Mobile Money </a:t>
            </a:r>
            <a:r>
              <a:rPr lang="en-ZA" dirty="0" smtClean="0"/>
              <a:t>Transactions</a:t>
            </a:r>
          </a:p>
          <a:p>
            <a:endParaRPr lang="en-ZA" dirty="0"/>
          </a:p>
          <a:p>
            <a:pPr>
              <a:buFont typeface="Arial" panose="020B0604020202020204" pitchFamily="34" charset="0"/>
              <a:buChar char="•"/>
            </a:pPr>
            <a:r>
              <a:rPr lang="en-ZA" dirty="0"/>
              <a:t>Total transactions: </a:t>
            </a:r>
            <a:r>
              <a:rPr lang="en-ZA" dirty="0" smtClean="0"/>
              <a:t>6,362,620</a:t>
            </a:r>
          </a:p>
          <a:p>
            <a:pPr>
              <a:buFont typeface="Arial" panose="020B0604020202020204" pitchFamily="34" charset="0"/>
              <a:buChar char="•"/>
            </a:pPr>
            <a:endParaRPr lang="en-ZA" dirty="0"/>
          </a:p>
          <a:p>
            <a:pPr>
              <a:buFont typeface="Arial" panose="020B0604020202020204" pitchFamily="34" charset="0"/>
              <a:buChar char="•"/>
            </a:pPr>
            <a:r>
              <a:rPr lang="en-ZA" dirty="0"/>
              <a:t>Fraudulent transactions: </a:t>
            </a:r>
            <a:r>
              <a:rPr lang="en-ZA" dirty="0" smtClean="0"/>
              <a:t>8,213</a:t>
            </a:r>
          </a:p>
          <a:p>
            <a:endParaRPr lang="en-ZA" dirty="0"/>
          </a:p>
          <a:p>
            <a:pPr>
              <a:buFont typeface="Arial" panose="020B0604020202020204" pitchFamily="34" charset="0"/>
              <a:buChar char="•"/>
            </a:pPr>
            <a:r>
              <a:rPr lang="en-ZA" dirty="0"/>
              <a:t>Legitimate transactions: </a:t>
            </a:r>
            <a:r>
              <a:rPr lang="en-ZA" dirty="0" smtClean="0"/>
              <a:t>6,354,407</a:t>
            </a:r>
          </a:p>
          <a:p>
            <a:endParaRPr lang="en-ZA" dirty="0"/>
          </a:p>
          <a:p>
            <a:pPr>
              <a:buFont typeface="Arial" panose="020B0604020202020204" pitchFamily="34" charset="0"/>
              <a:buChar char="•"/>
            </a:pPr>
            <a:r>
              <a:rPr lang="en-ZA" dirty="0"/>
              <a:t>Fraud cases represent approximately 0.1291% of all transactions</a:t>
            </a:r>
            <a:r>
              <a:rPr lang="en-ZA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ZA" dirty="0" smtClean="0"/>
          </a:p>
          <a:p>
            <a:endParaRPr lang="en-ZA" dirty="0" smtClean="0"/>
          </a:p>
          <a:p>
            <a:endParaRPr lang="en-Z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62599"/>
              </p:ext>
            </p:extLst>
          </p:nvPr>
        </p:nvGraphicFramePr>
        <p:xfrm>
          <a:off x="763916" y="3329797"/>
          <a:ext cx="861299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6782"/>
                <a:gridCol w="4366215"/>
              </a:tblGrid>
              <a:tr h="210764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ZA" dirty="0"/>
                    </a:p>
                  </a:txBody>
                  <a:tcPr/>
                </a:tc>
              </a:tr>
              <a:tr h="210764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step of the transaction</a:t>
                      </a:r>
                      <a:endParaRPr lang="en-ZA" dirty="0"/>
                    </a:p>
                  </a:txBody>
                  <a:tcPr/>
                </a:tc>
              </a:tr>
              <a:tr h="210764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Transaction type</a:t>
                      </a:r>
                      <a:endParaRPr lang="en-ZA" dirty="0"/>
                    </a:p>
                  </a:txBody>
                  <a:tcPr/>
                </a:tc>
              </a:tr>
              <a:tr h="210764">
                <a:tc>
                  <a:txBody>
                    <a:bodyPr/>
                    <a:lstStyle/>
                    <a:p>
                      <a:r>
                        <a:rPr lang="en-US" dirty="0" smtClean="0"/>
                        <a:t>amount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Transaction</a:t>
                      </a:r>
                      <a:r>
                        <a:rPr lang="en-US" baseline="0" dirty="0" smtClean="0"/>
                        <a:t> type</a:t>
                      </a:r>
                      <a:endParaRPr lang="en-ZA" dirty="0"/>
                    </a:p>
                  </a:txBody>
                  <a:tcPr anchor="ctr"/>
                </a:tc>
              </a:tr>
              <a:tr h="36883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oldbalanceorg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Sender's balance before the transaction</a:t>
                      </a:r>
                      <a:endParaRPr lang="en-ZA" dirty="0"/>
                    </a:p>
                  </a:txBody>
                  <a:tcPr/>
                </a:tc>
              </a:tr>
              <a:tr h="36883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oldbalancedest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Recipient's balance before the transaction</a:t>
                      </a:r>
                      <a:endParaRPr lang="en-ZA" dirty="0"/>
                    </a:p>
                  </a:txBody>
                  <a:tcPr/>
                </a:tc>
              </a:tr>
              <a:tr h="36883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isFraud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target variable: fraudulent or legitimate</a:t>
                      </a:r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17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2309" y="431322"/>
            <a:ext cx="1157664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/>
              <a:t>Research Methodology</a:t>
            </a:r>
          </a:p>
          <a:p>
            <a:endParaRPr lang="en-ZA" b="1" dirty="0"/>
          </a:p>
          <a:p>
            <a:r>
              <a:rPr lang="en-ZA" dirty="0"/>
              <a:t>System Development </a:t>
            </a:r>
            <a:r>
              <a:rPr lang="en-ZA" dirty="0" smtClean="0"/>
              <a:t>Workflow</a:t>
            </a:r>
          </a:p>
          <a:p>
            <a:endParaRPr lang="en-ZA" dirty="0"/>
          </a:p>
          <a:p>
            <a:r>
              <a:rPr lang="en-ZA" dirty="0"/>
              <a:t>1. Dataset Collection</a:t>
            </a:r>
          </a:p>
          <a:p>
            <a:r>
              <a:rPr lang="en-ZA" dirty="0"/>
              <a:t>Load the synthetic </a:t>
            </a:r>
            <a:r>
              <a:rPr lang="en-ZA" dirty="0" err="1"/>
              <a:t>PaySim</a:t>
            </a:r>
            <a:r>
              <a:rPr lang="en-ZA" dirty="0"/>
              <a:t> CSV dataset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/>
              <a:t>2. Data </a:t>
            </a:r>
            <a:r>
              <a:rPr lang="en-ZA" dirty="0" err="1" smtClean="0"/>
              <a:t>Preprocessing</a:t>
            </a:r>
            <a:endParaRPr lang="en-ZA" dirty="0"/>
          </a:p>
          <a:p>
            <a:r>
              <a:rPr lang="en-ZA" dirty="0"/>
              <a:t>Select features, encode transaction type and scale numeric variables where required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/>
              <a:t>3. Model </a:t>
            </a:r>
            <a:r>
              <a:rPr lang="en-ZA" dirty="0" smtClean="0"/>
              <a:t>Training</a:t>
            </a:r>
            <a:endParaRPr lang="en-ZA" dirty="0"/>
          </a:p>
          <a:p>
            <a:r>
              <a:rPr lang="en-ZA" dirty="0"/>
              <a:t>Train Logistic Regression and Random Forest models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/>
              <a:t>4. Model Evaluation</a:t>
            </a:r>
          </a:p>
          <a:p>
            <a:r>
              <a:rPr lang="en-ZA" dirty="0"/>
              <a:t>Measure accuracy, precision, recall, F1-score, ROC-AUC and average precision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/>
              <a:t>5. Deployment Prototype</a:t>
            </a:r>
          </a:p>
          <a:p>
            <a:r>
              <a:rPr lang="en-ZA" dirty="0"/>
              <a:t>Save the Random Forest model and integrate it into a </a:t>
            </a:r>
            <a:r>
              <a:rPr lang="en-ZA" dirty="0" err="1"/>
              <a:t>Streamlit</a:t>
            </a:r>
            <a:r>
              <a:rPr lang="en-ZA" dirty="0"/>
              <a:t>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163038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9561" y="86590"/>
            <a:ext cx="11662914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Research Methodology</a:t>
            </a:r>
          </a:p>
          <a:p>
            <a:r>
              <a:rPr lang="en-US" dirty="0"/>
              <a:t>System Development </a:t>
            </a:r>
            <a:r>
              <a:rPr lang="en-US" dirty="0" smtClean="0"/>
              <a:t>Workflow</a:t>
            </a:r>
          </a:p>
          <a:p>
            <a:endParaRPr lang="en-US" sz="1400" dirty="0"/>
          </a:p>
          <a:p>
            <a:r>
              <a:rPr lang="en-US" sz="1400" dirty="0" smtClean="0"/>
              <a:t>                                                                                          Dataset </a:t>
            </a:r>
            <a:r>
              <a:rPr lang="en-US" sz="1400" dirty="0"/>
              <a:t>Collection</a:t>
            </a:r>
          </a:p>
          <a:p>
            <a:r>
              <a:rPr lang="en-US" sz="1400" dirty="0" smtClean="0"/>
              <a:t>                                                                              Load </a:t>
            </a:r>
            <a:r>
              <a:rPr lang="en-US" sz="1400" dirty="0"/>
              <a:t>the synthetic </a:t>
            </a:r>
            <a:r>
              <a:rPr lang="en-US" sz="1400" dirty="0" err="1"/>
              <a:t>PaySim</a:t>
            </a:r>
            <a:r>
              <a:rPr lang="en-US" sz="1400" dirty="0"/>
              <a:t> CSV </a:t>
            </a:r>
            <a:r>
              <a:rPr lang="en-US" sz="1400" dirty="0" smtClean="0"/>
              <a:t>dataset.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                                                                  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                        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                                                                                       Data Preprocessing</a:t>
            </a:r>
          </a:p>
          <a:p>
            <a:r>
              <a:rPr lang="en-US" sz="1400" dirty="0" smtClean="0"/>
              <a:t>                                   Select </a:t>
            </a:r>
            <a:r>
              <a:rPr lang="en-US" sz="1400" dirty="0"/>
              <a:t>features, encode transaction type and scale numeric variables where required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. </a:t>
            </a:r>
            <a:r>
              <a:rPr lang="en-US" sz="1400" dirty="0" smtClean="0"/>
              <a:t>                                                                                             Model </a:t>
            </a:r>
            <a:r>
              <a:rPr lang="en-US" sz="1400" dirty="0"/>
              <a:t>Training</a:t>
            </a:r>
          </a:p>
          <a:p>
            <a:r>
              <a:rPr lang="en-US" sz="1400" dirty="0" smtClean="0"/>
              <a:t>                                                                    Train </a:t>
            </a:r>
            <a:r>
              <a:rPr lang="en-US" sz="1400" dirty="0"/>
              <a:t>Logistic Regression and Random Forest models.</a:t>
            </a:r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/>
              <a:t> </a:t>
            </a:r>
            <a:r>
              <a:rPr lang="en-US" sz="1400" dirty="0" smtClean="0"/>
              <a:t>                                                                                         </a:t>
            </a:r>
            <a:r>
              <a:rPr lang="en-US" dirty="0" smtClean="0"/>
              <a:t> </a:t>
            </a:r>
            <a:r>
              <a:rPr lang="en-US" sz="1400" dirty="0" smtClean="0"/>
              <a:t>Model </a:t>
            </a:r>
            <a:r>
              <a:rPr lang="en-US" sz="1400" dirty="0"/>
              <a:t>Evaluation</a:t>
            </a:r>
          </a:p>
          <a:p>
            <a:r>
              <a:rPr lang="en-US" sz="1400" dirty="0" smtClean="0"/>
              <a:t>                                                 Measure </a:t>
            </a:r>
            <a:r>
              <a:rPr lang="en-US" sz="1400" dirty="0"/>
              <a:t>accuracy, precision, recall, F1-score, ROC-AUC and average precision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sz="1400" dirty="0" smtClean="0"/>
              <a:t>                                                                                          Deployment </a:t>
            </a:r>
            <a:r>
              <a:rPr lang="en-US" sz="1400" dirty="0"/>
              <a:t>Prototype</a:t>
            </a:r>
          </a:p>
          <a:p>
            <a:r>
              <a:rPr lang="en-US" sz="1400" dirty="0" smtClean="0"/>
              <a:t>                                                 Save </a:t>
            </a:r>
            <a:r>
              <a:rPr lang="en-US" sz="1400" dirty="0"/>
              <a:t>the Random Forest model and integrate it into a </a:t>
            </a:r>
            <a:r>
              <a:rPr lang="en-US" sz="1400" dirty="0" err="1"/>
              <a:t>Streamlit</a:t>
            </a:r>
            <a:r>
              <a:rPr lang="en-US" sz="1400" dirty="0"/>
              <a:t> web application.</a:t>
            </a:r>
          </a:p>
          <a:p>
            <a:endParaRPr lang="en-US" sz="1400" dirty="0"/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710687" y="1328468"/>
            <a:ext cx="17253" cy="483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10687" y="2234242"/>
            <a:ext cx="0" cy="56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719313" y="3330977"/>
            <a:ext cx="8627" cy="56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27940" y="4433977"/>
            <a:ext cx="0" cy="586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401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4671" y="574138"/>
            <a:ext cx="11671539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Preparation and Model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was sampled to make model training and evaluation manageable.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sample: 207,917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200,000 legitimate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7,917 fraudulent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test sample: 200,000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199,704 legitimate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296 fraudulent transactions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 Random Forest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trees: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tree depth: 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samples per leaf: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weighting: 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balanced_subsample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state: 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8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816" y="818924"/>
            <a:ext cx="1130060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Machine Learning </a:t>
            </a:r>
            <a:r>
              <a:rPr lang="en-US" b="1" dirty="0" smtClean="0"/>
              <a:t>Algorithms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smtClean="0"/>
              <a:t>Logistic Regression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supervised classification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Estimates the probability that a transaction belongs to the fraudulent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a baseline for comparison.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class weighting to account for the imbalance between fraud and legitimate transactions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2. Random </a:t>
            </a:r>
            <a:r>
              <a:rPr lang="en-US" b="1" dirty="0" smtClean="0"/>
              <a:t>Forest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ensemble learning algorithm that combines predictions from multiple decision trees.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identify complex relationships between transaction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class weighting to improve its treatment of the minority fraud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Selected as the model for the web application based on the observed evaluation results.</a:t>
            </a:r>
          </a:p>
          <a:p>
            <a:r>
              <a:rPr lang="en-US" dirty="0"/>
              <a:t>Implementation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 and </a:t>
            </a:r>
            <a:r>
              <a:rPr lang="en-US" dirty="0" err="1"/>
              <a:t>NumPy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Joblib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2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807" y="-1"/>
            <a:ext cx="114252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/>
              <a:t>Model Evaluation </a:t>
            </a:r>
            <a:r>
              <a:rPr lang="en-ZA" b="1" dirty="0" smtClean="0"/>
              <a:t>Metrics</a:t>
            </a:r>
          </a:p>
          <a:p>
            <a:endParaRPr lang="en-ZA" b="1" dirty="0" smtClean="0"/>
          </a:p>
          <a:p>
            <a:r>
              <a:rPr lang="en-US" dirty="0"/>
              <a:t>Why use multiple </a:t>
            </a:r>
            <a:r>
              <a:rPr lang="en-US" dirty="0" smtClean="0"/>
              <a:t>metrics?</a:t>
            </a:r>
          </a:p>
          <a:p>
            <a:endParaRPr lang="en-US" dirty="0"/>
          </a:p>
          <a:p>
            <a:r>
              <a:rPr lang="en-US" dirty="0"/>
              <a:t>High accuracy alone does not guarantee effective fraud detection. A model may classify most transactions correctly simply because legitimate transactions dominate the dataset. Precision and recall help show the trade-off between false alarms and missed fraud.</a:t>
            </a:r>
          </a:p>
          <a:p>
            <a:endParaRPr lang="en-ZA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676110"/>
              </p:ext>
            </p:extLst>
          </p:nvPr>
        </p:nvGraphicFramePr>
        <p:xfrm>
          <a:off x="1143479" y="2103120"/>
          <a:ext cx="812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502"/>
                <a:gridCol w="4052498"/>
              </a:tblGrid>
              <a:tr h="361506">
                <a:tc>
                  <a:txBody>
                    <a:bodyPr/>
                    <a:lstStyle/>
                    <a:p>
                      <a:r>
                        <a:rPr lang="en-US" dirty="0" smtClean="0"/>
                        <a:t>METRIC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ZA" dirty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all transactions classified correctly</a:t>
                      </a:r>
                      <a:endParaRPr lang="en-ZA" dirty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flagged transactions that are actually fraudulent</a:t>
                      </a:r>
                      <a:endParaRPr lang="en-ZA" dirty="0" smtClean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fraudulent transactions successfully detected</a:t>
                      </a:r>
                      <a:endParaRPr lang="en-ZA" dirty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ZA" dirty="0" smtClean="0"/>
                        <a:t>F1-score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Harmonic mean of precision and recall</a:t>
                      </a:r>
                      <a:endParaRPr lang="en-ZA" dirty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ZA" dirty="0" smtClean="0"/>
                        <a:t>ROC-AUC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Measures how well the model separates the two classes across thresholds</a:t>
                      </a:r>
                      <a:endParaRPr lang="en-ZA" dirty="0"/>
                    </a:p>
                  </a:txBody>
                  <a:tcPr/>
                </a:tc>
              </a:tr>
              <a:tr h="361506">
                <a:tc>
                  <a:txBody>
                    <a:bodyPr/>
                    <a:lstStyle/>
                    <a:p>
                      <a:r>
                        <a:rPr lang="en-ZA" dirty="0" smtClean="0"/>
                        <a:t>Average Precision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Summarises</a:t>
                      </a:r>
                      <a:r>
                        <a:rPr lang="en-US" dirty="0" smtClean="0"/>
                        <a:t> the precision-recall trade-off, particularly useful for imbalanced data</a:t>
                      </a:r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37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407" y="86265"/>
            <a:ext cx="1184406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Model Performance Comparison</a:t>
            </a:r>
          </a:p>
          <a:p>
            <a:r>
              <a:rPr lang="en-US" dirty="0"/>
              <a:t>Test-set results at a classification threshold of </a:t>
            </a:r>
            <a:r>
              <a:rPr lang="en-US" dirty="0" smtClean="0"/>
              <a:t>0.50                                                            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ZA" b="1" dirty="0"/>
              <a:t>Confusion </a:t>
            </a:r>
            <a:r>
              <a:rPr lang="en-ZA" b="1" dirty="0" smtClean="0"/>
              <a:t>Matrices</a:t>
            </a:r>
          </a:p>
          <a:p>
            <a:endParaRPr lang="en-US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93595"/>
              </p:ext>
            </p:extLst>
          </p:nvPr>
        </p:nvGraphicFramePr>
        <p:xfrm>
          <a:off x="1445403" y="1349395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METRIC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Accuracy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98.44%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ROC-AUC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0.9721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0.9991%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Average Precision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0.2267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0.8816%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Fraud Precision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1.42%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8.53%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Fraud Recall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91.89%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98.31%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 smtClean="0"/>
                        <a:t>Fraud F1-score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2.77%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15.70%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60705"/>
              </p:ext>
            </p:extLst>
          </p:nvPr>
        </p:nvGraphicFramePr>
        <p:xfrm>
          <a:off x="1367766" y="4887579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</a:t>
                      </a:r>
                      <a:r>
                        <a:rPr lang="en-US" baseline="0" dirty="0" smtClean="0"/>
                        <a:t> LEGITIMATE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FRAUD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Predicted legitimate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180,726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Predicted fraud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18,978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272</a:t>
                      </a:r>
                      <a:endParaRPr lang="en-ZA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4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72749"/>
              </p:ext>
            </p:extLst>
          </p:nvPr>
        </p:nvGraphicFramePr>
        <p:xfrm>
          <a:off x="1799087" y="1668572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LEGITIMATE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FRAUD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Predicted legitimate 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196,583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Predicted fraud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3,121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291</a:t>
                      </a:r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630217"/>
            <a:ext cx="1212873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Model </a:t>
            </a:r>
            <a:r>
              <a:rPr lang="en-US" b="1" dirty="0"/>
              <a:t>Performance Comparison</a:t>
            </a:r>
          </a:p>
          <a:p>
            <a:r>
              <a:rPr lang="en-US" dirty="0"/>
              <a:t>Test-set results at a classification threshold of 0.50                                                              </a:t>
            </a:r>
          </a:p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detected 291 of the 296 fraudulent transactions in the test sample at the 0.50 threshold.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produced 3,121 false-positive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observed ROC-AUC and average precision were higher than those of Logistic Regression.</a:t>
            </a:r>
          </a:p>
        </p:txBody>
      </p:sp>
    </p:spTree>
    <p:extLst>
      <p:ext uri="{BB962C8B-B14F-4D97-AF65-F5344CB8AC3E}">
        <p14:creationId xmlns:p14="http://schemas.microsoft.com/office/powerpoint/2010/main" val="37308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7033" y="120770"/>
            <a:ext cx="1161115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Classification Threshold and Fraud Detection Trade-off</a:t>
            </a:r>
          </a:p>
          <a:p>
            <a:r>
              <a:rPr lang="en-US" dirty="0"/>
              <a:t>The classification threshold determines the probability above which a transaction is flagged as potentially fraudulent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u="sng" dirty="0"/>
              <a:t>K</a:t>
            </a:r>
            <a:r>
              <a:rPr lang="en-US" u="sng" dirty="0" smtClean="0"/>
              <a:t>ey </a:t>
            </a:r>
            <a:r>
              <a:rPr lang="en-US" u="sng" dirty="0"/>
              <a:t>Findings</a:t>
            </a:r>
          </a:p>
          <a:p>
            <a:r>
              <a:rPr lang="en-US" dirty="0"/>
              <a:t>Lower thresholds generally identify more fraud but can produce more false-positive alerts.</a:t>
            </a:r>
          </a:p>
          <a:p>
            <a:r>
              <a:rPr lang="en-US" dirty="0"/>
              <a:t>Higher thresholds reduce false positives but may allow more fraudulent transactions to go undetected.</a:t>
            </a:r>
          </a:p>
          <a:p>
            <a:r>
              <a:rPr lang="en-US" dirty="0"/>
              <a:t>The prototype uses a threshold of 0.80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u="sng" dirty="0"/>
              <a:t>Evaluation Note: </a:t>
            </a:r>
            <a:r>
              <a:rPr lang="en-US" dirty="0"/>
              <a:t>The 0.80 threshold was selected after inspecting test-set results. Its reported performance is therefore provisional and may be optimistic. In a rigorous evaluation, the threshold should be selected using validation data and assessed on an untouched test set.</a:t>
            </a:r>
          </a:p>
          <a:p>
            <a:endParaRPr lang="en-US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029090"/>
              </p:ext>
            </p:extLst>
          </p:nvPr>
        </p:nvGraphicFramePr>
        <p:xfrm>
          <a:off x="2109638" y="1470165"/>
          <a:ext cx="8128002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THRESHOLD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 POSITIVES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 NEGATIVES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0.50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3,121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8.53%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98.31%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98.44%</a:t>
                      </a:r>
                      <a:endParaRPr lang="en-Z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0.80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199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56.93%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88.85%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99.884%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0.90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82.55%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83.11%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reported</a:t>
                      </a:r>
                      <a:endParaRPr lang="en-ZA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10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176" y="207033"/>
            <a:ext cx="1160252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Web Application Demonstration</a:t>
            </a:r>
          </a:p>
          <a:p>
            <a:r>
              <a:rPr lang="en-US" dirty="0"/>
              <a:t>Application Name: Mobile Money Fraud Detection</a:t>
            </a:r>
          </a:p>
          <a:p>
            <a:r>
              <a:rPr lang="en-US" dirty="0"/>
              <a:t>Technologies: Python, </a:t>
            </a:r>
            <a:r>
              <a:rPr lang="en-US" dirty="0" err="1"/>
              <a:t>Streamlit</a:t>
            </a:r>
            <a:r>
              <a:rPr lang="en-US" dirty="0"/>
              <a:t>, </a:t>
            </a:r>
            <a:r>
              <a:rPr lang="en-US" dirty="0" err="1"/>
              <a:t>Scikit</a:t>
            </a:r>
            <a:r>
              <a:rPr lang="en-US" dirty="0"/>
              <a:t>-learn and </a:t>
            </a:r>
            <a:r>
              <a:rPr lang="en-US" dirty="0" err="1"/>
              <a:t>Joblib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u="sng" dirty="0"/>
              <a:t>Application </a:t>
            </a:r>
            <a:r>
              <a:rPr lang="en-US" u="sng" dirty="0" smtClean="0"/>
              <a:t>Inputs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step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Sender's balance before the transaction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Recipient's balance before the </a:t>
            </a:r>
            <a:r>
              <a:rPr lang="en-US" dirty="0" smtClean="0"/>
              <a:t>transaction</a:t>
            </a:r>
          </a:p>
          <a:p>
            <a:endParaRPr lang="en-US" dirty="0"/>
          </a:p>
          <a:p>
            <a:r>
              <a:rPr lang="en-ZA" u="sng" dirty="0"/>
              <a:t>Example Test Transaction</a:t>
            </a:r>
            <a:endParaRPr lang="en-US" u="sng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28329"/>
              </p:ext>
            </p:extLst>
          </p:nvPr>
        </p:nvGraphicFramePr>
        <p:xfrm>
          <a:off x="1333260" y="398907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INPUT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Transaction type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TRANSFER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Amount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50000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Time step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Sender's old 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50,000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Recipient's old 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53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695" y="388189"/>
            <a:ext cx="112315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Observed Application </a:t>
            </a:r>
            <a:r>
              <a:rPr lang="en-US" b="1" dirty="0" smtClean="0"/>
              <a:t>Output</a:t>
            </a:r>
          </a:p>
          <a:p>
            <a:endParaRPr lang="en-US" b="1" dirty="0"/>
          </a:p>
          <a:p>
            <a:r>
              <a:rPr lang="en-US" dirty="0"/>
              <a:t>Estimated Fraud </a:t>
            </a:r>
            <a:r>
              <a:rPr lang="en-US" dirty="0" smtClean="0"/>
              <a:t>Probability</a:t>
            </a:r>
          </a:p>
          <a:p>
            <a:r>
              <a:rPr lang="en-US" b="1" dirty="0" smtClean="0"/>
              <a:t>97.54%</a:t>
            </a:r>
          </a:p>
          <a:p>
            <a:endParaRPr lang="en-US" b="1" dirty="0"/>
          </a:p>
          <a:p>
            <a:r>
              <a:rPr lang="en-US" dirty="0"/>
              <a:t>HIGH RISK: Potentially </a:t>
            </a:r>
            <a:r>
              <a:rPr lang="en-US" dirty="0" smtClean="0"/>
              <a:t>Fraudulent</a:t>
            </a:r>
          </a:p>
          <a:p>
            <a:endParaRPr lang="en-US" dirty="0"/>
          </a:p>
          <a:p>
            <a:r>
              <a:rPr lang="en-US" dirty="0"/>
              <a:t>Decision threshold: 80</a:t>
            </a:r>
            <a:r>
              <a:rPr lang="en-US" dirty="0" smtClean="0"/>
              <a:t>%</a:t>
            </a:r>
          </a:p>
          <a:p>
            <a:endParaRPr lang="en-US" dirty="0"/>
          </a:p>
          <a:p>
            <a:r>
              <a:rPr lang="en-US" u="sng" dirty="0"/>
              <a:t>Purpose of the </a:t>
            </a:r>
            <a:r>
              <a:rPr lang="en-US" u="sng" dirty="0" smtClean="0"/>
              <a:t>Application</a:t>
            </a:r>
          </a:p>
          <a:p>
            <a:endParaRPr lang="en-US" dirty="0"/>
          </a:p>
          <a:p>
            <a:r>
              <a:rPr lang="en-US" dirty="0"/>
              <a:t>The interface allows a user to enter transaction details, submit them to the trained model, and view the estimated fraud probability and corresponding risk classification.</a:t>
            </a:r>
          </a:p>
          <a:p>
            <a:r>
              <a:rPr lang="en-US" dirty="0"/>
              <a:t>The displayed result is an example from the working prototype, not proof that the transaction is fraudulent.</a:t>
            </a:r>
          </a:p>
        </p:txBody>
      </p:sp>
    </p:spTree>
    <p:extLst>
      <p:ext uri="{BB962C8B-B14F-4D97-AF65-F5344CB8AC3E}">
        <p14:creationId xmlns:p14="http://schemas.microsoft.com/office/powerpoint/2010/main" val="346957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21" y="198407"/>
            <a:ext cx="115162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Limitations and Ethical </a:t>
            </a:r>
            <a:r>
              <a:rPr lang="en-US" b="1" dirty="0" smtClean="0"/>
              <a:t>Considerations</a:t>
            </a:r>
          </a:p>
          <a:p>
            <a:endParaRPr lang="en-US" b="1" dirty="0"/>
          </a:p>
          <a:p>
            <a:r>
              <a:rPr lang="en-US" u="sng" dirty="0" smtClean="0"/>
              <a:t>Limitations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uses synthetic </a:t>
            </a:r>
            <a:r>
              <a:rPr lang="en-US" dirty="0" err="1"/>
              <a:t>PaySim</a:t>
            </a:r>
            <a:r>
              <a:rPr lang="en-US" dirty="0"/>
              <a:t> data rather than transaction records from a Zimbabwean mobile money provider.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Synthetic transaction patterns may not fully represent real fraud patterns in Zimbabwe.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imbalance affects the interpretation of evaluation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selected classification threshold requires further validation.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has not been demonstrated as a production-ready financial system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u="sng" dirty="0"/>
              <a:t>Ethical and Security </a:t>
            </a:r>
            <a:r>
              <a:rPr lang="en-US" u="sng" dirty="0" smtClean="0"/>
              <a:t>Considerations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high-risk prediction should trigger further investigation, not an automatic conclusion of fraud.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False positives may inconvenience legitimate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information must be protected against </a:t>
            </a:r>
            <a:r>
              <a:rPr lang="en-US" dirty="0" err="1"/>
              <a:t>unauthorised</a:t>
            </a:r>
            <a:r>
              <a:rPr lang="en-US" dirty="0"/>
              <a:t>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Real-world deployment would require privacy safeguards, human review, monitoring and local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91315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5057" y="224287"/>
            <a:ext cx="1152488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Conclusion and </a:t>
            </a:r>
            <a:r>
              <a:rPr lang="en-US" b="1" dirty="0" smtClean="0"/>
              <a:t>Recommendations</a:t>
            </a:r>
          </a:p>
          <a:p>
            <a:endParaRPr lang="en-US" b="1" dirty="0"/>
          </a:p>
          <a:p>
            <a:r>
              <a:rPr lang="en-US" u="sng" dirty="0" smtClean="0"/>
              <a:t>Conclusion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machine learning-based fraud detection prototype was developed using synthetic mobile money transaction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 and Random Forest were trained and evaluated.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Forest achieved higher observed ROC-AUC, average precision and fraud recall at the 0.50 threshold.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trained model was integrated into a </a:t>
            </a:r>
            <a:r>
              <a:rPr lang="en-US" dirty="0" err="1"/>
              <a:t>Streamlit</a:t>
            </a:r>
            <a:r>
              <a:rPr lang="en-US" dirty="0"/>
              <a:t> web application that displays fraud-risk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demonstrates the potential of machine learning for supporting transaction fraud analysis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u="sng" dirty="0" smtClean="0"/>
              <a:t>Recommendations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Obtain appropriately </a:t>
            </a:r>
            <a:r>
              <a:rPr lang="en-US" dirty="0" err="1"/>
              <a:t>authorised</a:t>
            </a:r>
            <a:r>
              <a:rPr lang="en-US" dirty="0"/>
              <a:t> and </a:t>
            </a:r>
            <a:r>
              <a:rPr lang="en-US" dirty="0" err="1"/>
              <a:t>anonymised</a:t>
            </a:r>
            <a:r>
              <a:rPr lang="en-US" dirty="0"/>
              <a:t> Zimbabwean mobile money transaction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the classification threshold using validation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Evaluate the model on an untouched test set and assess performance on realistic transaction distributions.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Investigate methods for reducing false-positive alerts.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Introduce human review, data protection and continuous model monitoring before considering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28682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815" y="388189"/>
            <a:ext cx="114645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 smtClean="0"/>
              <a:t>References</a:t>
            </a:r>
          </a:p>
          <a:p>
            <a:endParaRPr lang="en-ZA" dirty="0"/>
          </a:p>
          <a:p>
            <a:pPr>
              <a:buFont typeface="+mj-lt"/>
              <a:buAutoNum type="arabicPeriod"/>
            </a:pPr>
            <a:r>
              <a:rPr lang="en-ZA" dirty="0" err="1"/>
              <a:t>Breiman</a:t>
            </a:r>
            <a:r>
              <a:rPr lang="en-ZA" dirty="0"/>
              <a:t>, L. (2001). Random Forests. Machine Learning, 45, 5–32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 smtClean="0"/>
              <a:t>2.López-Rojas</a:t>
            </a:r>
            <a:r>
              <a:rPr lang="en-ZA" dirty="0"/>
              <a:t>, E. A., </a:t>
            </a:r>
            <a:r>
              <a:rPr lang="en-ZA" dirty="0" err="1"/>
              <a:t>Elmir</a:t>
            </a:r>
            <a:r>
              <a:rPr lang="en-ZA" dirty="0"/>
              <a:t>, A., and </a:t>
            </a:r>
            <a:r>
              <a:rPr lang="en-ZA" dirty="0" err="1"/>
              <a:t>Axelsson</a:t>
            </a:r>
            <a:r>
              <a:rPr lang="en-ZA" dirty="0"/>
              <a:t>, S. (2016). </a:t>
            </a:r>
            <a:r>
              <a:rPr lang="en-ZA" dirty="0" err="1"/>
              <a:t>PaySim</a:t>
            </a:r>
            <a:r>
              <a:rPr lang="en-ZA" dirty="0"/>
              <a:t>: A Financial Mobile Money Simulator for Fraud Detection. Proceedings of the 28th European </a:t>
            </a:r>
            <a:r>
              <a:rPr lang="en-ZA" dirty="0" err="1"/>
              <a:t>Modeling</a:t>
            </a:r>
            <a:r>
              <a:rPr lang="en-ZA" dirty="0"/>
              <a:t> and Simulation Symposium</a:t>
            </a:r>
            <a:r>
              <a:rPr lang="en-ZA" dirty="0" smtClean="0"/>
              <a:t>.</a:t>
            </a:r>
          </a:p>
          <a:p>
            <a:endParaRPr lang="en-ZA" dirty="0"/>
          </a:p>
          <a:p>
            <a:r>
              <a:rPr lang="en-ZA" dirty="0" smtClean="0"/>
              <a:t>3.Scikit-learn</a:t>
            </a:r>
            <a:r>
              <a:rPr lang="en-ZA" dirty="0"/>
              <a:t>. Machine Learning in Python — Documentation. </a:t>
            </a:r>
            <a:r>
              <a:rPr lang="en-ZA" dirty="0">
                <a:hlinkClick r:id="rId2"/>
              </a:rPr>
              <a:t>https://scikit-learn.org</a:t>
            </a:r>
            <a:r>
              <a:rPr lang="en-ZA" dirty="0" smtClean="0">
                <a:hlinkClick r:id="rId2"/>
              </a:rPr>
              <a:t>/</a:t>
            </a:r>
            <a:endParaRPr lang="en-ZA" dirty="0" smtClean="0"/>
          </a:p>
          <a:p>
            <a:endParaRPr lang="en-ZA" dirty="0"/>
          </a:p>
          <a:p>
            <a:r>
              <a:rPr lang="en-ZA" dirty="0" smtClean="0"/>
              <a:t>4.Streamlit</a:t>
            </a:r>
            <a:r>
              <a:rPr lang="en-ZA" dirty="0"/>
              <a:t>. </a:t>
            </a:r>
            <a:r>
              <a:rPr lang="en-ZA" dirty="0" err="1"/>
              <a:t>Streamlit</a:t>
            </a:r>
            <a:r>
              <a:rPr lang="en-ZA" dirty="0"/>
              <a:t> Documentation. </a:t>
            </a:r>
            <a:r>
              <a:rPr lang="en-ZA" dirty="0">
                <a:hlinkClick r:id="rId3"/>
              </a:rPr>
              <a:t>https://docs.streamlit.io/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803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196</TotalTime>
  <Words>1424</Words>
  <Application>Microsoft Office PowerPoint</Application>
  <PresentationFormat>Widescreen</PresentationFormat>
  <Paragraphs>353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Unicode MS</vt:lpstr>
      <vt:lpstr>Arial</vt:lpstr>
      <vt:lpstr>Century Gothic</vt:lpstr>
      <vt:lpstr>Wingdings 3</vt:lpstr>
      <vt:lpstr>Wisp</vt:lpstr>
      <vt:lpstr>Machine Learning-Based Detection of Fraudulent Mobile Money Transactions in Zimbabwe  Machine Learning Project Presentation  Student Name: [FIDELIS SHOKO]  Programme: [ Computer Science]  M250445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Detection of Fraudulent Mobile Money Transactions in Zimbabwe Student Name: [Your Name] Programme: [Your Programme] Institution: [Your Institution] Supervisor: [Supervisor's Name] Date: [Presentation Date] Slide 2: Project Overview</dc:title>
  <dc:creator>Microsoft account</dc:creator>
  <cp:lastModifiedBy>Microsoft account</cp:lastModifiedBy>
  <cp:revision>24</cp:revision>
  <dcterms:created xsi:type="dcterms:W3CDTF">2026-10-27T09:16:26Z</dcterms:created>
  <dcterms:modified xsi:type="dcterms:W3CDTF">2026-10-27T12:33:07Z</dcterms:modified>
</cp:coreProperties>
</file>